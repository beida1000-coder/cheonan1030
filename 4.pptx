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 KR"/>
      <p:regular r:id="rId201314"/>
    </p:embeddedFont>
    <p:embeddedFont>
      <p:font typeface="IBM Plex Sans KR Medium"/>
      <p:regular r:id="rId201315"/>
    </p:embeddedFont>
    <p:embeddedFont>
      <p:font typeface="IBM Plex Sans KR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C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C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DC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955" y="1714500"/>
            <a:ext cx="710547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천안시 청년정책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815955" y="2100262"/>
            <a:ext cx="649588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ko-KR" altLang="en-US" sz="5000" spc="-50" kern="100" dirty="0">
                <a:solidFill>
                  <a:srgbClr val="1E2B36"/>
                </a:solidFill>
                <a:latin typeface="Noto Serif KR Medium" pitchFamily="34" charset="0"/>
                <a:ea typeface="Noto Serif KR Medium" pitchFamily="34" charset="-122"/>
                <a:cs typeface="Noto Serif KR Medium" pitchFamily="34" charset="0"/>
              </a:rPr>
              <a:t>청년이 살고 싶은</a:t>
            </a:r>
            <a:endParaRPr lang="ko-KR" sz="5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ko-KR" altLang="en-US" sz="5000" spc="-50" kern="100" dirty="0">
                <a:solidFill>
                  <a:srgbClr val="1E2B36"/>
                </a:solidFill>
                <a:latin typeface="Noto Serif KR Medium" pitchFamily="34" charset="0"/>
                <a:ea typeface="Noto Serif KR Medium" pitchFamily="34" charset="-122"/>
                <a:cs typeface="Noto Serif KR Medium" pitchFamily="34" charset="0"/>
              </a:rPr>
              <a:t>도시, 천안</a:t>
            </a:r>
            <a:endParaRPr lang="ko-KR" sz="5000" dirty="0"/>
          </a:p>
        </p:txBody>
      </p:sp>
      <p:sp>
        <p:nvSpPr>
          <p:cNvPr id="4" name="Text 2"/>
          <p:cNvSpPr/>
          <p:nvPr/>
        </p:nvSpPr>
        <p:spPr>
          <a:xfrm>
            <a:off x="815955" y="3576637"/>
            <a:ext cx="649588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0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일자리에서 주거, 일상과 참여까지</a:t>
            </a:r>
            <a:endParaRPr lang="ko-KR" sz="2000" dirty="0"/>
          </a:p>
        </p:txBody>
      </p:sp>
      <p:sp>
        <p:nvSpPr>
          <p:cNvPr id="5" name="Text 3"/>
          <p:cNvSpPr/>
          <p:nvPr/>
        </p:nvSpPr>
        <p:spPr>
          <a:xfrm>
            <a:off x="815955" y="4035425"/>
            <a:ext cx="7105472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2025년 청년정책의 투자와 방향</a:t>
            </a:r>
            <a:endParaRPr lang="ko-KR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정책 체계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청년정책, 5대 분야로 추진합니다</a:t>
            </a:r>
            <a:endParaRPr lang="ko-KR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387475"/>
            <a:ext cx="1173450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일자리·교육·주거·복지문화·참여권리, 18개 중점과제로 청년의 삶을 폭넓게 지원합니다.</a:t>
            </a:r>
            <a:endParaRPr lang="ko-KR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762052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456424"/>
            <a:ext cx="20116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일자리</a:t>
            </a:r>
            <a:endParaRPr lang="ko-KR" sz="2100" dirty="0"/>
          </a:p>
        </p:txBody>
      </p:sp>
      <p:sp>
        <p:nvSpPr>
          <p:cNvPr id="7" name="Text 4"/>
          <p:cNvSpPr/>
          <p:nvPr/>
        </p:nvSpPr>
        <p:spPr>
          <a:xfrm>
            <a:off x="457189" y="3931047"/>
            <a:ext cx="201161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취업과 창업의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출발을 지원</a:t>
            </a:r>
            <a:endParaRPr lang="ko-KR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492" y="2762052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73492" y="3456424"/>
            <a:ext cx="2011709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교육</a:t>
            </a:r>
            <a:endParaRPr lang="ko-KR" sz="2100" dirty="0"/>
          </a:p>
        </p:txBody>
      </p:sp>
      <p:sp>
        <p:nvSpPr>
          <p:cNvPr id="10" name="Text 6"/>
          <p:cNvSpPr/>
          <p:nvPr/>
        </p:nvSpPr>
        <p:spPr>
          <a:xfrm>
            <a:off x="2773492" y="3931047"/>
            <a:ext cx="201170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배움과 성장의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기회 마련</a:t>
            </a:r>
            <a:endParaRPr lang="ko-KR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94" y="2762052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9894" y="3456424"/>
            <a:ext cx="201180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주거</a:t>
            </a:r>
            <a:endParaRPr lang="ko-KR" sz="2100" dirty="0"/>
          </a:p>
        </p:txBody>
      </p:sp>
      <p:sp>
        <p:nvSpPr>
          <p:cNvPr id="13" name="Text 8"/>
          <p:cNvSpPr/>
          <p:nvPr/>
        </p:nvSpPr>
        <p:spPr>
          <a:xfrm>
            <a:off x="5089894" y="3931047"/>
            <a:ext cx="201180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안정적으로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머무를 기반</a:t>
            </a:r>
            <a:endParaRPr lang="ko-KR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395" y="2762052"/>
            <a:ext cx="539736" cy="539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6395" y="3456424"/>
            <a:ext cx="2011709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복지문화</a:t>
            </a:r>
            <a:endParaRPr lang="ko-KR" sz="2100" dirty="0"/>
          </a:p>
        </p:txBody>
      </p:sp>
      <p:sp>
        <p:nvSpPr>
          <p:cNvPr id="16" name="Text 10"/>
          <p:cNvSpPr/>
          <p:nvPr/>
        </p:nvSpPr>
        <p:spPr>
          <a:xfrm>
            <a:off x="7406395" y="3931047"/>
            <a:ext cx="201170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돌봄과 문화가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있는 일상</a:t>
            </a:r>
            <a:endParaRPr lang="ko-KR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797" y="2762052"/>
            <a:ext cx="539736" cy="539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722797" y="3456424"/>
            <a:ext cx="2011709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참여권리</a:t>
            </a:r>
            <a:endParaRPr lang="ko-KR" sz="2100" dirty="0"/>
          </a:p>
        </p:txBody>
      </p:sp>
      <p:sp>
        <p:nvSpPr>
          <p:cNvPr id="19" name="Text 12"/>
          <p:cNvSpPr/>
          <p:nvPr/>
        </p:nvSpPr>
        <p:spPr>
          <a:xfrm>
            <a:off x="9722797" y="3931047"/>
            <a:ext cx="201170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청년의 목소리를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정책으로 연결</a:t>
            </a:r>
            <a:endParaRPr lang="ko-KR" sz="1450" dirty="0"/>
          </a:p>
        </p:txBody>
      </p:sp>
      <p:sp>
        <p:nvSpPr>
          <p:cNvPr id="20" name="Shape 13"/>
          <p:cNvSpPr/>
          <p:nvPr/>
        </p:nvSpPr>
        <p:spPr>
          <a:xfrm>
            <a:off x="457189" y="560179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8FA8A0"/>
          </a:solidFill>
          <a:ln/>
        </p:spPr>
      </p:sp>
      <p:sp>
        <p:nvSpPr>
          <p:cNvPr id="21" name="Text 14"/>
          <p:cNvSpPr/>
          <p:nvPr/>
        </p:nvSpPr>
        <p:spPr>
          <a:xfrm>
            <a:off x="457189" y="6081851"/>
            <a:ext cx="1127731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2025년 시행계획: 88개 사업, 937억 원</a:t>
            </a:r>
            <a:endParaRPr lang="ko-KR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분야별 투자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예산은 주거와 복지문화에 집중됩니다</a:t>
            </a:r>
            <a:endParaRPr lang="ko-KR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735138"/>
            <a:ext cx="6095848" cy="431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395" y="1835686"/>
            <a:ext cx="4328111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정착과 삶의 질에</a:t>
            </a:r>
            <a:endParaRPr lang="ko-KR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투자의 무게를 둡니다</a:t>
            </a:r>
            <a:endParaRPr lang="ko-KR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395" y="2656979"/>
          <a:ext cx="4328111" cy="914400"/>
        </p:xfrm>
        <a:graphic>
          <a:graphicData uri="http://schemas.openxmlformats.org/drawingml/2006/table">
            <a:tbl>
              <a:tblPr/>
              <a:tblGrid>
                <a:gridCol w="2596787"/>
                <a:gridCol w="1731324"/>
              </a:tblGrid>
              <a:tr h="554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분야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예산(억 원)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일자리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114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교육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59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주거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415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복지·문화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293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5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참여·권리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B3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0"/>
                        </a:rPr>
                        <a:t>56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857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일자리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640064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일자리: 첫 걸음을 함께합니다</a:t>
            </a:r>
            <a:endParaRPr lang="ko-KR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392873"/>
            <a:ext cx="64006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24개 사업, 114억 원</a:t>
            </a:r>
            <a:endParaRPr lang="ko-KR" sz="2100" dirty="0"/>
          </a:p>
        </p:txBody>
      </p:sp>
      <p:sp>
        <p:nvSpPr>
          <p:cNvPr id="5" name="Text 3"/>
          <p:cNvSpPr/>
          <p:nvPr/>
        </p:nvSpPr>
        <p:spPr>
          <a:xfrm>
            <a:off x="457189" y="1890514"/>
            <a:ext cx="640064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75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일 경험과 채용을 연결합니다</a:t>
            </a:r>
            <a:endParaRPr lang="ko-KR" sz="1750" dirty="0"/>
          </a:p>
        </p:txBody>
      </p:sp>
      <p:sp>
        <p:nvSpPr>
          <p:cNvPr id="6" name="Text 4"/>
          <p:cNvSpPr/>
          <p:nvPr/>
        </p:nvSpPr>
        <p:spPr>
          <a:xfrm>
            <a:off x="457189" y="2311995"/>
            <a:ext cx="640064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청년인턴, 천안형 청년채용연계</a:t>
            </a:r>
            <a:endParaRPr lang="ko-KR" sz="1700" dirty="0"/>
          </a:p>
        </p:txBody>
      </p:sp>
      <p:sp>
        <p:nvSpPr>
          <p:cNvPr id="7" name="Text 5"/>
          <p:cNvSpPr/>
          <p:nvPr/>
        </p:nvSpPr>
        <p:spPr>
          <a:xfrm>
            <a:off x="457189" y="3438823"/>
            <a:ext cx="640064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75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창업의 기반을 마련합니다</a:t>
            </a:r>
            <a:endParaRPr lang="ko-KR" sz="1750" dirty="0"/>
          </a:p>
        </p:txBody>
      </p:sp>
      <p:sp>
        <p:nvSpPr>
          <p:cNvPr id="8" name="Text 6"/>
          <p:cNvSpPr/>
          <p:nvPr/>
        </p:nvSpPr>
        <p:spPr>
          <a:xfrm>
            <a:off x="457189" y="3860304"/>
            <a:ext cx="640064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그린스타트업타운</a:t>
            </a:r>
            <a:endParaRPr lang="ko-KR" sz="1700" dirty="0"/>
          </a:p>
        </p:txBody>
      </p:sp>
      <p:sp>
        <p:nvSpPr>
          <p:cNvPr id="9" name="Text 7"/>
          <p:cNvSpPr/>
          <p:nvPr/>
        </p:nvSpPr>
        <p:spPr>
          <a:xfrm>
            <a:off x="457189" y="4987231"/>
            <a:ext cx="640064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75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농업에서도 미래를 찾습니다</a:t>
            </a:r>
            <a:endParaRPr lang="ko-KR" sz="1750" dirty="0"/>
          </a:p>
        </p:txBody>
      </p:sp>
      <p:sp>
        <p:nvSpPr>
          <p:cNvPr id="10" name="Text 8"/>
          <p:cNvSpPr/>
          <p:nvPr/>
        </p:nvSpPr>
        <p:spPr>
          <a:xfrm>
            <a:off x="457189" y="5408712"/>
            <a:ext cx="6400640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청년후계농업경영인 영농정착,</a:t>
            </a:r>
            <a:endParaRPr lang="ko-KR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스마트팜 지원</a:t>
            </a:r>
            <a:endParaRPr lang="ko-KR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206" y="457200"/>
            <a:ext cx="3962301" cy="56350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206" y="6179383"/>
            <a:ext cx="441948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dirty="0">
                <a:solidFill>
                  <a:srgbClr val="3A4C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취업·창업에서 영농정착까지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457189" y="3180854"/>
            <a:ext cx="6400640" cy="12700"/>
          </a:xfrm>
          <a:prstGeom prst="rect">
            <a:avLst/>
          </a:prstGeom>
          <a:solidFill>
            <a:srgbClr val="1E2B3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189" y="4729262"/>
            <a:ext cx="6400640" cy="12700"/>
          </a:xfrm>
          <a:prstGeom prst="rect">
            <a:avLst/>
          </a:prstGeom>
          <a:solidFill>
            <a:srgbClr val="1E2B3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868" y="457200"/>
            <a:ext cx="12689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457200"/>
            <a:ext cx="3962301" cy="5635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6179383"/>
            <a:ext cx="441948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dirty="0">
                <a:solidFill>
                  <a:srgbClr val="3A4C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천안에 머무를 수 있는 생활 기반</a:t>
            </a:r>
            <a:endParaRPr lang="ko-KR" sz="1300" dirty="0"/>
          </a:p>
        </p:txBody>
      </p:sp>
      <p:sp>
        <p:nvSpPr>
          <p:cNvPr id="4" name="Text 1"/>
          <p:cNvSpPr/>
          <p:nvPr/>
        </p:nvSpPr>
        <p:spPr>
          <a:xfrm>
            <a:off x="5333867" y="457200"/>
            <a:ext cx="6857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주거</a:t>
            </a:r>
            <a:endParaRPr lang="ko-KR" sz="1250" dirty="0"/>
          </a:p>
        </p:txBody>
      </p:sp>
      <p:sp>
        <p:nvSpPr>
          <p:cNvPr id="5" name="Text 2"/>
          <p:cNvSpPr/>
          <p:nvPr/>
        </p:nvSpPr>
        <p:spPr>
          <a:xfrm>
            <a:off x="5333867" y="797844"/>
            <a:ext cx="64006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주거: 가장 큰 투자로</a:t>
            </a:r>
            <a:endParaRPr lang="ko-KR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정착을 돕습니다</a:t>
            </a:r>
            <a:endParaRPr lang="ko-KR" sz="3000" dirty="0"/>
          </a:p>
        </p:txBody>
      </p:sp>
      <p:sp>
        <p:nvSpPr>
          <p:cNvPr id="6" name="Text 3"/>
          <p:cNvSpPr/>
          <p:nvPr/>
        </p:nvSpPr>
        <p:spPr>
          <a:xfrm>
            <a:off x="5333867" y="1850729"/>
            <a:ext cx="6400640" cy="51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ko-KR" altLang="en-US" sz="3800" spc="-38" kern="100" dirty="0">
                <a:solidFill>
                  <a:srgbClr val="1E2B36"/>
                </a:solidFill>
                <a:latin typeface="Noto Serif KR Medium" pitchFamily="34" charset="0"/>
                <a:ea typeface="Noto Serif KR Medium" pitchFamily="34" charset="-122"/>
                <a:cs typeface="Noto Serif KR Medium" pitchFamily="34" charset="0"/>
              </a:rPr>
              <a:t>415억 원</a:t>
            </a:r>
            <a:endParaRPr lang="ko-KR" sz="3800" dirty="0"/>
          </a:p>
        </p:txBody>
      </p:sp>
      <p:sp>
        <p:nvSpPr>
          <p:cNvPr id="7" name="Text 4"/>
          <p:cNvSpPr/>
          <p:nvPr/>
        </p:nvSpPr>
        <p:spPr>
          <a:xfrm>
            <a:off x="5333867" y="2511723"/>
            <a:ext cx="6857828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4개 사업으로 안정적인 주거를 지원합니다.</a:t>
            </a:r>
            <a:endParaRPr lang="ko-KR" sz="1700" dirty="0"/>
          </a:p>
        </p:txBody>
      </p:sp>
      <p:sp>
        <p:nvSpPr>
          <p:cNvPr id="8" name="Shape 5"/>
          <p:cNvSpPr/>
          <p:nvPr/>
        </p:nvSpPr>
        <p:spPr>
          <a:xfrm>
            <a:off x="5333867" y="5093494"/>
            <a:ext cx="3047825" cy="114300"/>
          </a:xfrm>
          <a:prstGeom prst="rect">
            <a:avLst/>
          </a:prstGeom>
          <a:solidFill>
            <a:srgbClr val="C9552E"/>
          </a:solidFill>
          <a:ln/>
        </p:spPr>
      </p:sp>
      <p:sp>
        <p:nvSpPr>
          <p:cNvPr id="9" name="Text 6"/>
          <p:cNvSpPr/>
          <p:nvPr/>
        </p:nvSpPr>
        <p:spPr>
          <a:xfrm>
            <a:off x="5333867" y="5235416"/>
            <a:ext cx="304782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살 공간 마련</a:t>
            </a:r>
            <a:endParaRPr lang="ko-KR" sz="2100" dirty="0"/>
          </a:p>
        </p:txBody>
      </p:sp>
      <p:sp>
        <p:nvSpPr>
          <p:cNvPr id="10" name="Text 7"/>
          <p:cNvSpPr/>
          <p:nvPr/>
        </p:nvSpPr>
        <p:spPr>
          <a:xfrm>
            <a:off x="5333867" y="5710039"/>
            <a:ext cx="3047825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행복주택(천안신부·쌍용 세대공감), 대학생 행복기숙사</a:t>
            </a:r>
            <a:endParaRPr lang="ko-KR" sz="1700" dirty="0"/>
          </a:p>
        </p:txBody>
      </p:sp>
      <p:sp>
        <p:nvSpPr>
          <p:cNvPr id="11" name="Shape 8"/>
          <p:cNvSpPr/>
          <p:nvPr/>
        </p:nvSpPr>
        <p:spPr>
          <a:xfrm>
            <a:off x="8686483" y="5093494"/>
            <a:ext cx="3047924" cy="114300"/>
          </a:xfrm>
          <a:prstGeom prst="rect">
            <a:avLst/>
          </a:prstGeom>
          <a:solidFill>
            <a:srgbClr val="C9552E"/>
          </a:solidFill>
          <a:ln/>
        </p:spPr>
      </p:sp>
      <p:sp>
        <p:nvSpPr>
          <p:cNvPr id="12" name="Text 9"/>
          <p:cNvSpPr/>
          <p:nvPr/>
        </p:nvSpPr>
        <p:spPr>
          <a:xfrm>
            <a:off x="8686483" y="523541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주거비 지원</a:t>
            </a:r>
            <a:endParaRPr lang="ko-KR" sz="2100" dirty="0"/>
          </a:p>
        </p:txBody>
      </p:sp>
      <p:sp>
        <p:nvSpPr>
          <p:cNvPr id="13" name="Text 10"/>
          <p:cNvSpPr/>
          <p:nvPr/>
        </p:nvSpPr>
        <p:spPr>
          <a:xfrm>
            <a:off x="8686483" y="5710039"/>
            <a:ext cx="3047924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청년월세 한시특별지원,</a:t>
            </a:r>
            <a:endParaRPr lang="ko-KR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청년주거급여</a:t>
            </a:r>
            <a:endParaRPr lang="ko-KR" sz="1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29" y="457200"/>
            <a:ext cx="12689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복지·문화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복지·문화: 삶의 질을 높입니다</a:t>
            </a:r>
            <a:endParaRPr lang="ko-KR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392873"/>
            <a:ext cx="1127731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32개 사업, 293억 원</a:t>
            </a:r>
            <a:endParaRPr lang="ko-KR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867456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4872" y="1895118"/>
            <a:ext cx="1062963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혼자 살아도, 자립을 준비해도</a:t>
            </a:r>
            <a:endParaRPr lang="ko-KR" sz="2100" dirty="0"/>
          </a:p>
        </p:txBody>
      </p:sp>
      <p:sp>
        <p:nvSpPr>
          <p:cNvPr id="7" name="Text 4"/>
          <p:cNvSpPr/>
          <p:nvPr/>
        </p:nvSpPr>
        <p:spPr>
          <a:xfrm>
            <a:off x="1104872" y="2369741"/>
            <a:ext cx="1062963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 1인 가구·자립준비청년 지원으로 일상의 기반을 돕습니다.</a:t>
            </a:r>
            <a:endParaRPr lang="ko-KR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3530957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4872" y="3558619"/>
            <a:ext cx="1062963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마음의 건강을 돌봅니다</a:t>
            </a:r>
            <a:endParaRPr lang="ko-KR" sz="2100" dirty="0"/>
          </a:p>
        </p:txBody>
      </p:sp>
      <p:sp>
        <p:nvSpPr>
          <p:cNvPr id="10" name="Text 6"/>
          <p:cNvSpPr/>
          <p:nvPr/>
        </p:nvSpPr>
        <p:spPr>
          <a:xfrm>
            <a:off x="1104872" y="4033242"/>
            <a:ext cx="1062963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 마음 돌봄으로 청년의 삶을 살핍니다.</a:t>
            </a:r>
            <a:endParaRPr lang="ko-KR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5194459"/>
            <a:ext cx="431789" cy="431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4872" y="5222121"/>
            <a:ext cx="1062963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문화를 누리고 만드는 기회를 넓힙니다</a:t>
            </a:r>
            <a:endParaRPr lang="ko-KR" sz="2100" dirty="0"/>
          </a:p>
        </p:txBody>
      </p:sp>
      <p:sp>
        <p:nvSpPr>
          <p:cNvPr id="13" name="Text 8"/>
          <p:cNvSpPr/>
          <p:nvPr/>
        </p:nvSpPr>
        <p:spPr>
          <a:xfrm>
            <a:off x="1104872" y="5696744"/>
            <a:ext cx="1062963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유니브시티 페스티벌, 대학로 청년문화예술 활성화</a:t>
            </a:r>
            <a:endParaRPr lang="ko-KR" sz="1700" dirty="0"/>
          </a:p>
        </p:txBody>
      </p:sp>
      <p:sp>
        <p:nvSpPr>
          <p:cNvPr id="14" name="Shape 9"/>
          <p:cNvSpPr/>
          <p:nvPr/>
        </p:nvSpPr>
        <p:spPr>
          <a:xfrm>
            <a:off x="457189" y="3296047"/>
            <a:ext cx="11277318" cy="12700"/>
          </a:xfrm>
          <a:prstGeom prst="rect">
            <a:avLst/>
          </a:prstGeom>
          <a:solidFill>
            <a:srgbClr val="1E2B36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189" y="4959548"/>
            <a:ext cx="11277318" cy="12700"/>
          </a:xfrm>
          <a:prstGeom prst="rect">
            <a:avLst/>
          </a:prstGeom>
          <a:solidFill>
            <a:srgbClr val="1E2B3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857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참여·권리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640064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참여·권리: 청년이 직접 만듭니다</a:t>
            </a:r>
            <a:endParaRPr lang="ko-KR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392873"/>
            <a:ext cx="64006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15개 사업, 56억 원</a:t>
            </a:r>
            <a:endParaRPr lang="ko-KR" sz="2100" dirty="0"/>
          </a:p>
        </p:txBody>
      </p:sp>
      <p:sp>
        <p:nvSpPr>
          <p:cNvPr id="5" name="Text 3"/>
          <p:cNvSpPr/>
          <p:nvPr/>
        </p:nvSpPr>
        <p:spPr>
          <a:xfrm>
            <a:off x="457189" y="2355394"/>
            <a:ext cx="64006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천안형 청년도전 프로젝트</a:t>
            </a:r>
            <a:endParaRPr lang="ko-KR" sz="2100" dirty="0"/>
          </a:p>
        </p:txBody>
      </p:sp>
      <p:sp>
        <p:nvSpPr>
          <p:cNvPr id="6" name="Text 4"/>
          <p:cNvSpPr/>
          <p:nvPr/>
        </p:nvSpPr>
        <p:spPr>
          <a:xfrm>
            <a:off x="457189" y="2830016"/>
            <a:ext cx="640064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청년의 도전과 활동을 지원합니다.</a:t>
            </a:r>
            <a:endParaRPr lang="ko-KR" sz="1700" dirty="0"/>
          </a:p>
        </p:txBody>
      </p:sp>
      <p:sp>
        <p:nvSpPr>
          <p:cNvPr id="7" name="Text 5"/>
          <p:cNvSpPr/>
          <p:nvPr/>
        </p:nvSpPr>
        <p:spPr>
          <a:xfrm>
            <a:off x="457189" y="3660219"/>
            <a:ext cx="64006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청년의 날 행사</a:t>
            </a:r>
            <a:endParaRPr lang="ko-KR" sz="2100" dirty="0"/>
          </a:p>
        </p:txBody>
      </p:sp>
      <p:sp>
        <p:nvSpPr>
          <p:cNvPr id="8" name="Text 6"/>
          <p:cNvSpPr/>
          <p:nvPr/>
        </p:nvSpPr>
        <p:spPr>
          <a:xfrm>
            <a:off x="457189" y="4134842"/>
            <a:ext cx="640064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청년이 함께 만나고 참여하는 자리를 마련합니다.</a:t>
            </a:r>
            <a:endParaRPr lang="ko-KR" sz="1700" dirty="0"/>
          </a:p>
        </p:txBody>
      </p:sp>
      <p:sp>
        <p:nvSpPr>
          <p:cNvPr id="9" name="Text 7"/>
          <p:cNvSpPr/>
          <p:nvPr/>
        </p:nvSpPr>
        <p:spPr>
          <a:xfrm>
            <a:off x="457189" y="4965045"/>
            <a:ext cx="64006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정책 아이디어 공모전</a:t>
            </a:r>
            <a:endParaRPr lang="ko-KR" sz="2100" dirty="0"/>
          </a:p>
        </p:txBody>
      </p:sp>
      <p:sp>
        <p:nvSpPr>
          <p:cNvPr id="10" name="Text 8"/>
          <p:cNvSpPr/>
          <p:nvPr/>
        </p:nvSpPr>
        <p:spPr>
          <a:xfrm>
            <a:off x="457189" y="5439668"/>
            <a:ext cx="640064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청년의 제안을 정책으로 연결합니다.</a:t>
            </a:r>
            <a:endParaRPr lang="ko-KR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189" y="3397647"/>
            <a:ext cx="6400640" cy="12700"/>
          </a:xfrm>
          <a:prstGeom prst="rect">
            <a:avLst/>
          </a:prstGeom>
          <a:solidFill>
            <a:srgbClr val="1E2B3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189" y="4702473"/>
            <a:ext cx="6400640" cy="12700"/>
          </a:xfrm>
          <a:prstGeom prst="rect">
            <a:avLst/>
          </a:prstGeom>
          <a:solidFill>
            <a:srgbClr val="1E2B3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868" y="457200"/>
            <a:ext cx="12689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청년도전지원사업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1127731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청년도전지원사업,</a:t>
            </a:r>
            <a:endParaRPr lang="ko-KR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153명이 다시 일어섰습니다</a:t>
            </a:r>
            <a:endParaRPr lang="ko-KR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806575"/>
            <a:ext cx="1173450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2021년부터 2025년 8월 말까지 구직단념 청년 153명이 취·창업에 성공했습니다.</a:t>
            </a:r>
            <a:endParaRPr lang="ko-KR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739529"/>
            <a:ext cx="3555911" cy="1304826"/>
          </a:xfrm>
          <a:prstGeom prst="rect">
            <a:avLst/>
          </a:prstGeom>
          <a:solidFill>
            <a:srgbClr val="EBC3AE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995751"/>
            <a:ext cx="309872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단기</a:t>
            </a:r>
            <a:endParaRPr lang="ko-KR" sz="2100" dirty="0"/>
          </a:p>
        </p:txBody>
      </p:sp>
      <p:sp>
        <p:nvSpPr>
          <p:cNvPr id="7" name="Text 5"/>
          <p:cNvSpPr/>
          <p:nvPr/>
        </p:nvSpPr>
        <p:spPr>
          <a:xfrm>
            <a:off x="685783" y="3470374"/>
            <a:ext cx="3327317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0000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5주 과정</a:t>
            </a:r>
            <a:endParaRPr lang="ko-KR" sz="1700" dirty="0"/>
          </a:p>
        </p:txBody>
      </p:sp>
      <p:sp>
        <p:nvSpPr>
          <p:cNvPr id="8" name="Shape 6"/>
          <p:cNvSpPr/>
          <p:nvPr/>
        </p:nvSpPr>
        <p:spPr>
          <a:xfrm>
            <a:off x="4317892" y="2739529"/>
            <a:ext cx="3555911" cy="1304826"/>
          </a:xfrm>
          <a:prstGeom prst="rect">
            <a:avLst/>
          </a:prstGeom>
          <a:solidFill>
            <a:srgbClr val="EBC3AE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995751"/>
            <a:ext cx="309872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중기</a:t>
            </a:r>
            <a:endParaRPr lang="ko-KR" sz="2100" dirty="0"/>
          </a:p>
        </p:txBody>
      </p:sp>
      <p:sp>
        <p:nvSpPr>
          <p:cNvPr id="10" name="Text 8"/>
          <p:cNvSpPr/>
          <p:nvPr/>
        </p:nvSpPr>
        <p:spPr>
          <a:xfrm>
            <a:off x="4546486" y="3470374"/>
            <a:ext cx="3327317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0000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15주 과정</a:t>
            </a:r>
            <a:endParaRPr lang="ko-KR" sz="1700" dirty="0"/>
          </a:p>
        </p:txBody>
      </p:sp>
      <p:sp>
        <p:nvSpPr>
          <p:cNvPr id="11" name="Shape 9"/>
          <p:cNvSpPr/>
          <p:nvPr/>
        </p:nvSpPr>
        <p:spPr>
          <a:xfrm>
            <a:off x="8178595" y="2739529"/>
            <a:ext cx="3555911" cy="1304826"/>
          </a:xfrm>
          <a:prstGeom prst="rect">
            <a:avLst/>
          </a:prstGeom>
          <a:solidFill>
            <a:srgbClr val="EBC3AE"/>
          </a:solidFill>
          <a:ln/>
        </p:spPr>
      </p:sp>
      <p:sp>
        <p:nvSpPr>
          <p:cNvPr id="12" name="Text 10"/>
          <p:cNvSpPr/>
          <p:nvPr/>
        </p:nvSpPr>
        <p:spPr>
          <a:xfrm>
            <a:off x="8407190" y="2995751"/>
            <a:ext cx="309872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장기</a:t>
            </a:r>
            <a:endParaRPr lang="ko-KR" sz="2100" dirty="0"/>
          </a:p>
        </p:txBody>
      </p:sp>
      <p:sp>
        <p:nvSpPr>
          <p:cNvPr id="13" name="Text 11"/>
          <p:cNvSpPr/>
          <p:nvPr/>
        </p:nvSpPr>
        <p:spPr>
          <a:xfrm>
            <a:off x="8407190" y="3470374"/>
            <a:ext cx="3327317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0000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25주 과정</a:t>
            </a:r>
            <a:endParaRPr lang="ko-KR" sz="1700" dirty="0"/>
          </a:p>
        </p:txBody>
      </p:sp>
      <p:sp>
        <p:nvSpPr>
          <p:cNvPr id="14" name="Text 12"/>
          <p:cNvSpPr/>
          <p:nvPr/>
        </p:nvSpPr>
        <p:spPr>
          <a:xfrm>
            <a:off x="457189" y="4239458"/>
            <a:ext cx="117345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dirty="0">
                <a:solidFill>
                  <a:srgbClr val="3A4C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과정별 기간을 나란히 표시한 것으로, 순차 이수 단계를 의미하지 않습니다.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457189" y="510083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8FA8A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189" y="5580896"/>
            <a:ext cx="1127731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최대 350만 원 지원</a:t>
            </a:r>
            <a:endParaRPr lang="ko-KR" sz="2100" dirty="0"/>
          </a:p>
        </p:txBody>
      </p:sp>
      <p:sp>
        <p:nvSpPr>
          <p:cNvPr id="17" name="Text 15"/>
          <p:cNvSpPr/>
          <p:nvPr/>
        </p:nvSpPr>
        <p:spPr>
          <a:xfrm>
            <a:off x="457189" y="6055519"/>
            <a:ext cx="1173450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구직을 멈춘 청년의 재도전을 뒷받침합니다.</a:t>
            </a:r>
            <a:endParaRPr lang="ko-KR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정책의 다음 방향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97844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15" kern="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앞으로의 방향</a:t>
            </a:r>
            <a:endParaRPr lang="ko-KR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387435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872" y="1415098"/>
            <a:ext cx="1062963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사회로 돌아오는 길을 넓힙니다</a:t>
            </a:r>
            <a:endParaRPr lang="ko-KR" sz="2100" dirty="0"/>
          </a:p>
        </p:txBody>
      </p:sp>
      <p:sp>
        <p:nvSpPr>
          <p:cNvPr id="6" name="Text 3"/>
          <p:cNvSpPr/>
          <p:nvPr/>
        </p:nvSpPr>
        <p:spPr>
          <a:xfrm>
            <a:off x="1104872" y="1889720"/>
            <a:ext cx="1062963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고립·은둔 청년의 사회복귀 지원을 확대합니다.</a:t>
            </a:r>
            <a:endParaRPr lang="ko-KR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3210877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4872" y="3238540"/>
            <a:ext cx="1062963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청년에게 맞추고, 청년과 함께 정합니다</a:t>
            </a:r>
            <a:endParaRPr lang="ko-KR" sz="2100" dirty="0"/>
          </a:p>
        </p:txBody>
      </p:sp>
      <p:sp>
        <p:nvSpPr>
          <p:cNvPr id="9" name="Text 5"/>
          <p:cNvSpPr/>
          <p:nvPr/>
        </p:nvSpPr>
        <p:spPr>
          <a:xfrm>
            <a:off x="1104872" y="3713163"/>
            <a:ext cx="1062963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 맞춤형 정책을 확대하고 청년 참여를 강화합니다.</a:t>
            </a:r>
            <a:endParaRPr lang="ko-KR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5034419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4872" y="5062081"/>
            <a:ext cx="1062963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2100" dirty="0">
                <a:solidFill>
                  <a:srgbClr val="1E2B36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0"/>
              </a:rPr>
              <a:t>통계로 정책을 점검합니다</a:t>
            </a:r>
            <a:endParaRPr lang="ko-KR" sz="2100" dirty="0"/>
          </a:p>
        </p:txBody>
      </p:sp>
      <p:sp>
        <p:nvSpPr>
          <p:cNvPr id="12" name="Text 7"/>
          <p:cNvSpPr/>
          <p:nvPr/>
        </p:nvSpPr>
        <p:spPr>
          <a:xfrm>
            <a:off x="1104872" y="5536704"/>
            <a:ext cx="1062963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7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2025 청년통계를 기반으로 청년의 삶과 정책을 살핍니다.</a:t>
            </a:r>
            <a:endParaRPr lang="ko-KR" sz="1700" dirty="0"/>
          </a:p>
        </p:txBody>
      </p:sp>
      <p:sp>
        <p:nvSpPr>
          <p:cNvPr id="13" name="Shape 8"/>
          <p:cNvSpPr/>
          <p:nvPr/>
        </p:nvSpPr>
        <p:spPr>
          <a:xfrm>
            <a:off x="457189" y="2975967"/>
            <a:ext cx="11277318" cy="12700"/>
          </a:xfrm>
          <a:prstGeom prst="rect">
            <a:avLst/>
          </a:prstGeom>
          <a:solidFill>
            <a:srgbClr val="1E2B36"/>
          </a:solidFill>
          <a:ln/>
        </p:spPr>
      </p:sp>
      <p:sp>
        <p:nvSpPr>
          <p:cNvPr id="14" name="Shape 9"/>
          <p:cNvSpPr/>
          <p:nvPr/>
        </p:nvSpPr>
        <p:spPr>
          <a:xfrm>
            <a:off x="457189" y="4799509"/>
            <a:ext cx="11277318" cy="12700"/>
          </a:xfrm>
          <a:prstGeom prst="rect">
            <a:avLst/>
          </a:prstGeom>
          <a:solidFill>
            <a:srgbClr val="1E2B3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955" y="1270000"/>
            <a:ext cx="77404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50" spc="150" kern="100" dirty="0">
                <a:solidFill>
                  <a:srgbClr val="1E2B36"/>
                </a:solidFill>
                <a:latin typeface="IBM Plex Sans KR Medium" pitchFamily="34" charset="0"/>
                <a:ea typeface="IBM Plex Sans KR Medium" pitchFamily="34" charset="-122"/>
                <a:cs typeface="IBM Plex Sans KR Medium" pitchFamily="34" charset="0"/>
              </a:rPr>
              <a:t>천안시 청년정책</a:t>
            </a:r>
            <a:endParaRPr lang="ko-KR" sz="1250" dirty="0"/>
          </a:p>
        </p:txBody>
      </p:sp>
      <p:sp>
        <p:nvSpPr>
          <p:cNvPr id="3" name="Text 1"/>
          <p:cNvSpPr/>
          <p:nvPr/>
        </p:nvSpPr>
        <p:spPr>
          <a:xfrm>
            <a:off x="815955" y="1655762"/>
            <a:ext cx="713087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ko-KR" altLang="en-US" sz="5000" spc="-50" kern="100" dirty="0">
                <a:solidFill>
                  <a:srgbClr val="1E2B36"/>
                </a:solidFill>
                <a:latin typeface="Noto Serif KR Medium" pitchFamily="34" charset="0"/>
                <a:ea typeface="Noto Serif KR Medium" pitchFamily="34" charset="-122"/>
                <a:cs typeface="Noto Serif KR Medium" pitchFamily="34" charset="0"/>
              </a:rPr>
              <a:t>청년과 함께 만드는</a:t>
            </a:r>
            <a:endParaRPr lang="ko-KR" sz="5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ko-KR" altLang="en-US" sz="5000" spc="-50" kern="100" dirty="0">
                <a:solidFill>
                  <a:srgbClr val="1E2B36"/>
                </a:solidFill>
                <a:latin typeface="Noto Serif KR Medium" pitchFamily="34" charset="0"/>
                <a:ea typeface="Noto Serif KR Medium" pitchFamily="34" charset="-122"/>
                <a:cs typeface="Noto Serif KR Medium" pitchFamily="34" charset="0"/>
              </a:rPr>
              <a:t>청년친화도시 천안</a:t>
            </a:r>
            <a:endParaRPr lang="ko-KR" sz="5000" dirty="0"/>
          </a:p>
        </p:txBody>
      </p:sp>
      <p:sp>
        <p:nvSpPr>
          <p:cNvPr id="4" name="Text 2"/>
          <p:cNvSpPr/>
          <p:nvPr/>
        </p:nvSpPr>
        <p:spPr>
          <a:xfrm>
            <a:off x="815955" y="3127375"/>
            <a:ext cx="713087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9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청년의 삶을 살피고,</a:t>
            </a:r>
            <a:endParaRPr lang="ko-KR" sz="1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900" dirty="0">
                <a:solidFill>
                  <a:srgbClr val="1E2B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0"/>
              </a:rPr>
              <a:t>청년의 목소리를 정책에 담겠습니다.</a:t>
            </a:r>
            <a:endParaRPr lang="ko-KR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2026-10-30T06:34:53Z</dcterms:created>
  <dcterms:modified xsi:type="dcterms:W3CDTF">2026-10-30T06:34:53Z</dcterms:modified>
</cp:coreProperties>
</file>